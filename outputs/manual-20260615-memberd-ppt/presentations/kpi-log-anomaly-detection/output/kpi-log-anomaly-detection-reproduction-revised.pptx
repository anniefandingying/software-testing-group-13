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209073f28340ec" /><Relationship Type="http://schemas.openxmlformats.org/officeDocument/2006/relationships/extended-properties" Target="/docProps/app.xml" Id="Rfbf9205df3b3496a" /><Relationship Type="http://schemas.openxmlformats.org/officeDocument/2006/relationships/officeDocument" Target="/ppt/presentation.xml" Id="R5f5339d67667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7d6a3f38247ce"/>
  </p:sldMasterIdLst>
  <p:notesMasterIdLst>
    <p:notesMasterId xmlns:r="http://schemas.openxmlformats.org/officeDocument/2006/relationships" r:id="R59367c383df54830"/>
  </p:notesMasterIdLst>
  <p:sldIdLst>
    <p:sldId xmlns:r="http://schemas.openxmlformats.org/officeDocument/2006/relationships" id="256" r:id="R2b800a589c404f4e"/>
    <p:sldId xmlns:r="http://schemas.openxmlformats.org/officeDocument/2006/relationships" id="257" r:id="R78f24e34657a44ca"/>
    <p:sldId xmlns:r="http://schemas.openxmlformats.org/officeDocument/2006/relationships" id="258" r:id="Rddf0fb0b15804772"/>
    <p:sldId xmlns:r="http://schemas.openxmlformats.org/officeDocument/2006/relationships" id="259" r:id="Rd1168f8869b44b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97e331b814d84" /><Relationship Type="http://schemas.openxmlformats.org/officeDocument/2006/relationships/slideMaster" Target="/ppt/slideMasters/slideMaster1.xml" Id="Ra4e7d6a3f38247ce" /><Relationship Type="http://schemas.openxmlformats.org/officeDocument/2006/relationships/notesMaster" Target="/ppt/notesMasters/notesMaster1.xml" Id="R59367c383df54830" /><Relationship Type="http://schemas.openxmlformats.org/officeDocument/2006/relationships/presProps" Target="/ppt/presProps.xml" Id="Rc96e735b2b5c4f8f" /><Relationship Type="http://schemas.openxmlformats.org/officeDocument/2006/relationships/viewProps" Target="/ppt/viewProps.xml" Id="R924fe1406b8f4eea" /><Relationship Type="http://schemas.openxmlformats.org/officeDocument/2006/relationships/tableStyles" Target="/ppt/tableStyles.xml" Id="R623d5543df844050" /><Relationship Type="http://schemas.openxmlformats.org/officeDocument/2006/relationships/slide" Target="/ppt/slides/slide1.xml" Id="R2b800a589c404f4e" /><Relationship Type="http://schemas.openxmlformats.org/officeDocument/2006/relationships/slide" Target="/ppt/slides/slide2.xml" Id="R78f24e34657a44ca" /><Relationship Type="http://schemas.openxmlformats.org/officeDocument/2006/relationships/slide" Target="/ppt/slides/slide3.xml" Id="Rddf0fb0b15804772" /><Relationship Type="http://schemas.openxmlformats.org/officeDocument/2006/relationships/slide" Target="/ppt/slides/slide4.xml" Id="Rd1168f8869b44b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44672fb9040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3d49a11764181" /><Relationship Type="http://schemas.openxmlformats.org/officeDocument/2006/relationships/notesMaster" Target="/ppt/notesMasters/notesMaster1.xml" Id="Re20bf2a68535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c55c96fdc34e4c" /><Relationship Type="http://schemas.openxmlformats.org/officeDocument/2006/relationships/notesMaster" Target="/ppt/notesMasters/notesMaster1.xml" Id="Rf0321a111c80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ce2ed45e54aaa" /><Relationship Type="http://schemas.openxmlformats.org/officeDocument/2006/relationships/notesMaster" Target="/ppt/notesMasters/notesMaster1.xml" Id="R3895af89bf5b4c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08e29fd14b4f98" /><Relationship Type="http://schemas.openxmlformats.org/officeDocument/2006/relationships/notesMaster" Target="/ppt/notesMasters/notesMaster1.xml" Id="Rf28b99c8f4014e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3112524d7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77ef4302b40ec" /><Relationship Type="http://schemas.openxmlformats.org/officeDocument/2006/relationships/slideLayout" Target="/ppt/slideLayouts/slideLayout1.xml" Id="R7c6301b2a9114b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6301b2a9114b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75d37db984687" /><Relationship Type="http://schemas.openxmlformats.org/officeDocument/2006/relationships/notesSlide" Target="/ppt/notesSlides/notesSlide1.xml" Id="Rfbcff1e47cf84e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4a05c7f954c7b" /><Relationship Type="http://schemas.openxmlformats.org/officeDocument/2006/relationships/image" Target="/ppt/media/image.png" Id="R1b595b8f555a4bb0" /><Relationship Type="http://schemas.openxmlformats.org/officeDocument/2006/relationships/notesSlide" Target="/ppt/notesSlides/notesSlide2.xml" Id="R9d47a9ed0d24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85ff4302d4435" /><Relationship Type="http://schemas.openxmlformats.org/officeDocument/2006/relationships/notesSlide" Target="/ppt/notesSlides/notesSlide3.xml" Id="R2cce07e64bae4f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d7e96a7e443d3" /><Relationship Type="http://schemas.openxmlformats.org/officeDocument/2006/relationships/image" Target="/ppt/media/image2.png" Id="Redce6f2c038e4629" /><Relationship Type="http://schemas.openxmlformats.org/officeDocument/2006/relationships/image" Target="/ppt/media/image3.png" Id="R370331ca918c4e66" /><Relationship Type="http://schemas.openxmlformats.org/officeDocument/2006/relationships/notesSlide" Target="/ppt/notesSlides/notesSlide4.xml" Id="R47a1bd18edea40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A52BA10A-8C75-4346-9942-253007DE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BCEF6C-9E5D-48D8-8F57-78D43BB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KPI 与日志异常检测复现工作总览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B932F-123E-4798-8A3F-6FCF1D41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906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围绕两类观测数据，完成算法理解、数据转换、推理/训练与异常可视化。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BA223-5C5E-41EC-9A47-C1B7309D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52600"/>
            <a:ext cx="866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DADA 处理多维 KPI 时间序列，LLMeLog 处理日志事件序列；两者分别解释系统指标异常和日志模式异常。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E5B2E-6205-41E9-A9EC-CD8799CA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05F3E-4227-43B8-AD53-D29EDD49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2ECB2-DE19-45F6-85AA-EABDAA83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KPI 时间序列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AEA78-0943-4AF4-8A4E-713E820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自适应瓶颈 + 对抗解码</a:t>
            </a:r>
          </a:p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用重构稳定性给出异常分数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E633D-7B4D-4ACC-A8D4-CCF993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30505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58ACC-CD42-41F4-B2E1-C85BC3D9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19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LLMeLog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C9119-8E5F-4926-9700-4596188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52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日志事件序列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B1AD7-0C5B-41A8-A179-1BDD367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194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LLM 增强语义与异常倾向</a:t>
            </a:r>
          </a:p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再做序列异常检测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B278C-A449-46BE-85F3-38AE2D34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B5CA5-4BD9-4F07-A460-C7FC2F3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572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105DA-DE89-4950-A603-3F38C494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KPI 时间点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F0F81-E1CA-488D-A8E3-F74CD62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94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包含正常段、故障段、恢复段</a:t>
            </a:r>
          </a:p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345 个点有 DADA 分数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6C9E9-C402-41AE-A385-520E24E8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05050"/>
            <a:ext cx="2114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7838C-1741-481A-A8DF-811DF1B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19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84,709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B517D-57FC-427C-AB95-E753CE54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52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日志事件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D6717-A052-4B04-BAE0-449D22E4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194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360 个日志模板</a:t>
            </a:r>
          </a:p>
          <a:p xmlns:a="http://schemas.openxmlformats.org/drawingml/2006/main">
            <a:pPr algn="l">
              <a:def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4,166 个 5 秒窗口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7E8A5-EC8D-4683-ACBB-F15894B9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372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2BDFE-BD45-4D18-AAE5-7A8357D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08922-E1F1-4D70-BD4C-D15819D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观测数据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2BA63-1E03-4F21-BCC1-AACA0DDE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29150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KPI / 日志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5DFF0-6FF3-45CF-8AC4-9A4B6D3F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48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9F56C-0C48-467F-899F-5808506A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02A87-C626-4B53-8031-DB49994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数据表达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BAB73-8C0F-4446-B901-132BD6E1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窗口 / 模板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FD317A-6D96-40A5-BCB6-B22A87E0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448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93444-F648-46BC-A7F4-64577F3F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053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5FB5E-4E78-4A02-A972-42F68AB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2A108-A24D-484D-A92D-B530F05B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DADA / LLMeLog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F391B-6FE7-4BC0-95B5-FE3C007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48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5205C6-19C2-4729-BE79-A49D9CF3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B62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D4D36-998C-4957-901C-728EAFC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3646AF-A536-4ADC-B91D-CF4E762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9150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分数 / 概率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7CD8C7-3F39-4F1B-8BB2-B143ED6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4817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416819-DEF5-4D3B-9ED5-EEFD0FB2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053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4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6C1F40-F385-4C86-9FC9-BA4D6251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结果展示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7D5BED-1468-4985-8730-FD41822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1238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图表 / 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5EC8B9-FD7D-4D09-B697-9E85DD86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53100"/>
            <a:ext cx="9601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53D07E-EAD1-4395-8313-CE73189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9775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展示重点：算法原理、数据规模与内容、检测结果可视化，不做横向指标对比。</a:t>
            </a:r>
          </a:p>
        </p:txBody>
      </p:sp>
    </p:spTree>
    <p:extLst>
      <p:ext uri="{BB962C8B-B14F-4D97-AF65-F5344CB8AC3E}">
        <p14:creationId xmlns:p14="http://schemas.microsoft.com/office/powerpoint/2010/main" val="4334432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001B2FBC-8E9E-4CF8-A102-EE028EB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765F2-8AB6-4706-904E-645C7F1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DADA：用重构稳定性捕捉 KPI 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DF4B2-1143-4FD1-AFC4-BA0547D1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3638550" cy="42291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4E15D-B304-41FF-9F9B-A907D4F0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430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论文方法：三层机制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84C25-0BF4-4DA1-8914-5A721D2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DADA 面向通用时间序列异常检测。它先通过预训练学习多域时间序列表示，再在推理时用重构方差作为异常信号，适合 zero-shot 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43089-54B3-434C-BDC3-4D6B0F2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6B53-3059-4A33-AC56-D4BA4B9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自适应瓶颈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4133B-ACC6-41DD-AF74-CD085ED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瓶颈池 + router，按信息密度选择压缩方式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85859-121D-4456-84F2-26A09DF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1629-9FA1-4CB6-99F8-569C72A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对抗解码器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E9790-B6D9-46C2-BA99-F49BB34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正常重构与异常重构对抗，拉清异常边界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4534B-C3AB-4A1B-B711-1980F22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0F004-02E5-4521-A756-948254BD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方差分数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9898F-856A-45B0-8C8B-A5DBEEC2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多 mask 重构；方差越高越可能异常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82944-119E-48FE-A43E-C35731C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30670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7C163-5CBA-4743-8334-6D4A50E4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KPI 数据内容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683C4-9F9A-43A6-8DB3-01C5EB2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指标内容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34DC2-1A11-46EB-A370-B99C7CB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00550"/>
            <a:ext cx="2343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请求量、Pod 内存、重启等多维 KPI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B33DB-6464-4A53-A830-2001DAF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时间结构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02985-9D87-4538-A5D1-B601D56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00575"/>
            <a:ext cx="2343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正常段 / 故障段 / 恢复段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C647E-DDBC-4670-9343-3E17CFC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故障场景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ECAE4-9950-4EA8-93C5-EDA022DF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00600"/>
            <a:ext cx="2343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discountservice scale_down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6D6F0-6746-46BA-BBAC-F69EA267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时间点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D01F8-CB46-4706-8E5D-A80A88BB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00625"/>
            <a:ext cx="2343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572 个；345 个有异常分数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415D1-8F9E-40D6-8219-0389F57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723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阈值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B2A8E-0138-4392-A9F7-FD9D056C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00650"/>
            <a:ext cx="2343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初始正常段 95 分位数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526CE-1887-4D1D-BF51-1C7A258C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52550"/>
            <a:ext cx="64389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95b8f555a4bb0"/>
          <a:stretch xmlns:a="http://schemas.openxmlformats.org/drawingml/2006/main"/>
        </p:blipFill>
        <p:spPr>
          <a:xfrm xmlns:a="http://schemas.openxmlformats.org/drawingml/2006/main">
            <a:off x="5048250" y="1608260"/>
            <a:ext cx="6019800" cy="3241431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B1221-5F08-493D-9EEC-0E930881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482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149D7-B8C0-4DFD-B3E0-EED14B2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真实故障区间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090701-B5D4-4251-AC4F-3D171411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68832-6CB5-4CEF-8367-610DA48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DADA 异常分数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AFBFD-1654-4C8B-96BD-36547987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41FCB-7302-424D-966B-7255FEA6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530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异常阈值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3EE94D-5BAC-4A58-BAAA-F49CE366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A03E22-3C1D-47C1-9B05-FC8E9D2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530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D6B80"/>
                </a:solidFill>
                <a:latin typeface="Microsoft YaHei"/>
                <a:ea typeface="Microsoft YaHei"/>
                <a:cs typeface="Microsoft YaHei"/>
              </a:rPr>
              <a:t>关键 KPI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209E5-6948-4915-90BF-876F0CDB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53100"/>
            <a:ext cx="9601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69A194-C286-4D47-9189-5F693D22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9775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图中故障后 KPI 变化明显，异常分数随后升高，说明 DADA 能从多维指标变化中捕捉异常。</a:t>
            </a:r>
          </a:p>
        </p:txBody>
      </p:sp>
    </p:spTree>
    <p:extLst>
      <p:ext uri="{BB962C8B-B14F-4D97-AF65-F5344CB8AC3E}">
        <p14:creationId xmlns:p14="http://schemas.microsoft.com/office/powerpoint/2010/main" val="7782309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7E6FA27-BF65-4898-A18D-7685C52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30864-FA1B-43A9-BB34-62EB625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LLMeLog：增强日志语义后检测异常窗口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EAEE-8AA1-4B04-88A6-7BEA08B7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3371850" cy="41529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F2AED-9138-44EF-93C2-5031E7E1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62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算法流程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13243-B9E3-4C43-A78C-9EF12E3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812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6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25A80-F632-4BAF-98F2-828CFC47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日志解析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8B9BA-B3AC-4C6C-8E85-EC034DF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5050"/>
            <a:ext cx="2190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raw log →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387D3-9F01-437D-8D12-2C31C28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76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1FF25-F41C-4766-B8A2-16D85D9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6DE61-B1A0-43EE-9272-B68D9CB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43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 增强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46ADC-474C-4302-B29D-D2E526A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2190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语义解释 + 异常倾向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7126C-DB35-4454-A80D-11A8086E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304DC-C7D7-4717-BBC4-ABA56237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0912D-3D94-4786-B8E9-F74C0109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BERT 表达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F4B78-1BB2-4FF3-9B83-56C0B56B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2190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融合语义与倾向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68DA6-EF26-451A-82AE-0CF6B2C2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48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8C88D-4943-4C18-AFC9-703BFFB6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B62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4E364-B189-4FA3-A9D4-9788C46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序列检测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D0F3F-563C-422C-89FD-6653A126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2190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Transformer 分类器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5DE99-D9E8-4A71-BB4E-CDD83F84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33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BA3B1-F2EA-46A6-A570-36196EC0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244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94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15203-88BB-442F-96A8-986ED8EB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异常分数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E7795-5ED6-4178-A4EE-6B8610B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2190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窗口级输出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1593E-A14A-44A6-97F4-64BC8BC8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71600"/>
            <a:ext cx="65151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EAF85-28DE-43CF-8A54-ECC435DD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43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方法要点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44DC6-DD64-4C6F-AB3C-EBB850F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24050"/>
            <a:ext cx="5924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LLMeLog 的关键不是让 LLM 直接判异常，而是让 LLM 补全日志事件含义、系统影响和异常倾向。随后通过 BERT/HSF 得到更有判别力的 embedding，再由序列检测器输出窗口异常概率。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E1E5F-C03B-4522-A427-2882E170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592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一句话：把日志事件从“文本片段”升级为“语义 + 异常倾向”的事件表示。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64825-DFFF-4A58-8A8D-A2DC7EDE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65151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1C0FC-63FB-4477-988B-D0AC35A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日志数据内容与数量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5B671-3701-4BA0-AF12-34D02889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43350"/>
            <a:ext cx="592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E29B0-2366-48F3-BC01-8CEFD06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C64C6-63BA-4A8A-8431-217445A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909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数量 / 内容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023ECC-D176-49ED-9D84-BE60014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592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2C72B-670A-4DA2-B857-2E700F94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767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故障场景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001F61-E48C-4A42-B6E2-B5C7E2D8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76725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5 类：CPU、Pod、网络、遥测、调用延迟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0DBDE-2956-4D9D-8E92-9C4006C0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05325"/>
            <a:ext cx="592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2EC62D-0712-4CBC-9862-6FD75D1C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529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原始日志事件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E92C2D-FA11-47BD-B5F5-D59FFA7D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529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84,709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EF3550-F800-42E8-B7B3-F6F927D0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81550"/>
            <a:ext cx="592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42D3C1-E7AD-4685-A8AD-99843E98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291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日志模板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875B3A-529D-4BC0-A20C-B4D8DAB6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29175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39A2E"/>
                </a:solidFill>
                <a:latin typeface="Microsoft YaHei"/>
                <a:ea typeface="Microsoft YaHei"/>
                <a:cs typeface="Microsoft YaHei"/>
              </a:rPr>
              <a:t>360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993C61-70F7-447C-B5AD-DB49C277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57775"/>
            <a:ext cx="592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E7CBB-9238-4C7C-8F16-8167348E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05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5 秒窗口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7D4E79-A953-4126-997E-56F0FABC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7B6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B62BF"/>
                </a:solidFill>
                <a:latin typeface="Microsoft YaHei"/>
                <a:ea typeface="Microsoft YaHei"/>
                <a:cs typeface="Microsoft YaHei"/>
              </a:rPr>
              <a:t>4,166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325892-EF54-42DA-9C08-C4441F4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34000"/>
            <a:ext cx="592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6C3205-479B-460C-84D6-5563AD24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训练 / 验证 / 测试窗口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47A857-2967-4034-97E7-9BE23B6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2,499 / 832 / 835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215877-B3A8-4926-BE44-A5CE6519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53100"/>
            <a:ext cx="9601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7323CC-5CF3-47AD-AFD7-E5CF525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9775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LLMeLog 侧重从日志事件序列中识别异常窗口，与 KPI 指标侧检测形成互补。</a:t>
            </a:r>
          </a:p>
        </p:txBody>
      </p:sp>
    </p:spTree>
    <p:extLst>
      <p:ext uri="{BB962C8B-B14F-4D97-AF65-F5344CB8AC3E}">
        <p14:creationId xmlns:p14="http://schemas.microsoft.com/office/powerpoint/2010/main" val="716769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7BDE6ABE-340D-4F9B-8B27-E6A6F0FC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5275"/>
            <a:ext cx="116967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7A45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42568-4223-4FA6-92FC-E5A5BE6A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异常检测结果展示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EDE1B-5112-4EB8-A495-99DE35FE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B1B02-2D30-4813-8FB4-D8844FB2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6DB5"/>
                </a:solidFill>
                <a:latin typeface="Microsoft YaHei"/>
                <a:ea typeface="Microsoft YaHei"/>
                <a:cs typeface="Microsoft YaHei"/>
              </a:rPr>
              <a:t>DADA KPI 检测图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e6f2c038e4629"/>
          <a:stretch xmlns:a="http://schemas.openxmlformats.org/drawingml/2006/main"/>
        </p:blipFill>
        <p:spPr>
          <a:xfrm xmlns:a="http://schemas.openxmlformats.org/drawingml/2006/main">
            <a:off x="1257300" y="1847850"/>
            <a:ext cx="4210050" cy="2266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52C71-2FC0-4433-A1F4-E198E5D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2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红色背景为真实故障区间，蓝色曲线为异常分数。故障后 KPI 指标出现明显变化，异常分数在后续时间段升高。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CF07F-FC1A-4618-BD7B-272BB5D2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52550"/>
            <a:ext cx="516255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35FDA-8FB8-481B-B155-D4F95AA3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A7BC"/>
                </a:solidFill>
                <a:latin typeface="Microsoft YaHei"/>
                <a:ea typeface="Microsoft YaHei"/>
                <a:cs typeface="Microsoft YaHei"/>
              </a:rPr>
              <a:t>LLMeLog 日志检测图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331ca918c4e66"/>
          <a:stretch xmlns:a="http://schemas.openxmlformats.org/drawingml/2006/main"/>
        </p:blipFill>
        <p:spPr>
          <a:xfrm xmlns:a="http://schemas.openxmlformats.org/drawingml/2006/main">
            <a:off x="7242175" y="1847850"/>
            <a:ext cx="3136900" cy="3619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B1BD6-F111-4F07-A89A-78176266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340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每一行对应一个故障场景，红色背景表示真实故障时间段，绿色曲线表示日志窗口异常概率，红点表示故障窗口内日志序列。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32FB6-8C85-47F4-B806-79759CD1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9601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8087A-F56C-49D4-9998-53939324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91225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D2E4A"/>
                </a:solidFill>
                <a:latin typeface="Microsoft YaHei"/>
                <a:ea typeface="Microsoft YaHei"/>
                <a:cs typeface="Microsoft YaHei"/>
              </a:rPr>
              <a:t>总结：DADA 解释指标异常，LLMeLog 解释日志模式异常；两类数据模态互补，用于共同观察系统故障。</a:t>
            </a:r>
          </a:p>
        </p:txBody>
      </p:sp>
    </p:spTree>
    <p:extLst>
      <p:ext uri="{BB962C8B-B14F-4D97-AF65-F5344CB8AC3E}">
        <p14:creationId xmlns:p14="http://schemas.microsoft.com/office/powerpoint/2010/main" val="1231030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2026-06-15T04:42:43.4220000Z</dcterms:created>
  <dcterms:modified xsi:type="dcterms:W3CDTF">2026-06-15T04:42:43.4220000Z</dcterms:modified>
</coreProperties>
</file>