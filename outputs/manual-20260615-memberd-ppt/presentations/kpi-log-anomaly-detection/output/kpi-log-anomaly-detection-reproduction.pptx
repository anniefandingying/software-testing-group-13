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a9168b245e462b" /><Relationship Type="http://schemas.openxmlformats.org/officeDocument/2006/relationships/extended-properties" Target="/docProps/app.xml" Id="R7e9e09f9f1fb494e" /><Relationship Type="http://schemas.openxmlformats.org/officeDocument/2006/relationships/officeDocument" Target="/ppt/presentation.xml" Id="R3c70b36c6f9a47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ffa10cdd224abf"/>
  </p:sldMasterIdLst>
  <p:notesMasterIdLst>
    <p:notesMasterId xmlns:r="http://schemas.openxmlformats.org/officeDocument/2006/relationships" r:id="R25ee4af0b78b4cae"/>
  </p:notesMasterIdLst>
  <p:sldIdLst>
    <p:sldId xmlns:r="http://schemas.openxmlformats.org/officeDocument/2006/relationships" id="256" r:id="R74bd0f1b336d4bf1"/>
    <p:sldId xmlns:r="http://schemas.openxmlformats.org/officeDocument/2006/relationships" id="257" r:id="R45341758d13b45a6"/>
    <p:sldId xmlns:r="http://schemas.openxmlformats.org/officeDocument/2006/relationships" id="258" r:id="Ra96cc3451af04f26"/>
    <p:sldId xmlns:r="http://schemas.openxmlformats.org/officeDocument/2006/relationships" id="259" r:id="R5dd590bab6a942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2d09085a6d4334" /><Relationship Type="http://schemas.openxmlformats.org/officeDocument/2006/relationships/slideMaster" Target="/ppt/slideMasters/slideMaster1.xml" Id="R38ffa10cdd224abf" /><Relationship Type="http://schemas.openxmlformats.org/officeDocument/2006/relationships/notesMaster" Target="/ppt/notesMasters/notesMaster1.xml" Id="R25ee4af0b78b4cae" /><Relationship Type="http://schemas.openxmlformats.org/officeDocument/2006/relationships/presProps" Target="/ppt/presProps.xml" Id="R428a024e099b4bd9" /><Relationship Type="http://schemas.openxmlformats.org/officeDocument/2006/relationships/viewProps" Target="/ppt/viewProps.xml" Id="Rfa6cd496853349b5" /><Relationship Type="http://schemas.openxmlformats.org/officeDocument/2006/relationships/tableStyles" Target="/ppt/tableStyles.xml" Id="Rf375435e022642ae" /><Relationship Type="http://schemas.openxmlformats.org/officeDocument/2006/relationships/slide" Target="/ppt/slides/slide1.xml" Id="R74bd0f1b336d4bf1" /><Relationship Type="http://schemas.openxmlformats.org/officeDocument/2006/relationships/slide" Target="/ppt/slides/slide2.xml" Id="R45341758d13b45a6" /><Relationship Type="http://schemas.openxmlformats.org/officeDocument/2006/relationships/slide" Target="/ppt/slides/slide3.xml" Id="Ra96cc3451af04f26" /><Relationship Type="http://schemas.openxmlformats.org/officeDocument/2006/relationships/slide" Target="/ppt/slides/slide4.xml" Id="R5dd590bab6a942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c1f301ec9d4a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821df816234750" /><Relationship Type="http://schemas.openxmlformats.org/officeDocument/2006/relationships/notesMaster" Target="/ppt/notesMasters/notesMaster1.xml" Id="R3490e9bcd9af43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3862a891a045d2" /><Relationship Type="http://schemas.openxmlformats.org/officeDocument/2006/relationships/notesMaster" Target="/ppt/notesMasters/notesMaster1.xml" Id="Raf5017c9a4da44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15ec82320a4a25" /><Relationship Type="http://schemas.openxmlformats.org/officeDocument/2006/relationships/notesMaster" Target="/ppt/notesMasters/notesMaster1.xml" Id="R3877ad15e1d242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0424ecbb964eaf" /><Relationship Type="http://schemas.openxmlformats.org/officeDocument/2006/relationships/notesMaster" Target="/ppt/notesMasters/notesMaster1.xml" Id="Recacb449c73943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8436c23ac4a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e1993dc8b841af" /><Relationship Type="http://schemas.openxmlformats.org/officeDocument/2006/relationships/slideLayout" Target="/ppt/slideLayouts/slideLayout1.xml" Id="R590da6b6af4042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0da6b6af4042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d9bd189b84e40" /><Relationship Type="http://schemas.openxmlformats.org/officeDocument/2006/relationships/notesSlide" Target="/ppt/notesSlides/notesSlide1.xml" Id="Ra8abfb9e137248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f266f26604fbf" /><Relationship Type="http://schemas.openxmlformats.org/officeDocument/2006/relationships/image" Target="/ppt/media/image.png" Id="R9ed31d654f3448f1" /><Relationship Type="http://schemas.openxmlformats.org/officeDocument/2006/relationships/notesSlide" Target="/ppt/notesSlides/notesSlide2.xml" Id="R2a25e64e664644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fb55ce64d4c72" /><Relationship Type="http://schemas.openxmlformats.org/officeDocument/2006/relationships/notesSlide" Target="/ppt/notesSlides/notesSlide3.xml" Id="R9249054df45a4e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eeee1fdaf4ff0" /><Relationship Type="http://schemas.openxmlformats.org/officeDocument/2006/relationships/image" Target="/ppt/media/image2.png" Id="R3c99327004674ff9" /><Relationship Type="http://schemas.openxmlformats.org/officeDocument/2006/relationships/image" Target="/ppt/media/image3.png" Id="R293ee235e0c54c3a" /><Relationship Type="http://schemas.openxmlformats.org/officeDocument/2006/relationships/notesSlide" Target="/ppt/notesSlides/notesSlide4.xml" Id="Rd8b27f05d95b442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er-frame">
            <a:extLst xmlns:a="http://schemas.openxmlformats.org/drawingml/2006/main">
              <a:ext uri="{FF2B5EF4-FFF2-40B4-BE49-F238E27FC236}">
                <a16:creationId xmlns:a16="http://schemas.microsoft.com/office/drawing/2014/main" id="{6D4D1C11-8758-4E7F-83CF-BF772AD3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5275"/>
            <a:ext cx="1169670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7A45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14D209-7422-4A77-859E-3AB93E34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KPI 与日志异常检测复现工作总览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98234-84D9-481C-A408-60A160B1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42875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围绕主仓数据链路，复现 KPI 与日志两类异常检测流程。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A2D6A-2262-46EE-A17D-5630B942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0975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重点不是单独运行算法 demo，而是完成数据接入、格式转换、训练/推理与异常分数可视化展示。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4D236-EE81-4BA8-B1C1-44EBA244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62200"/>
            <a:ext cx="2114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69534-E6ED-467F-8ACB-6CDACD50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rPr>
              <a:t>DADA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90CE9-CC8C-4531-9BC8-08DB14A9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384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KPI 异常检测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699CB-D370-49A2-9EDE-CE450946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051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多维时间序列推理</a:t>
            </a:r>
          </a:p>
          <a:p xmlns:a="http://schemas.openxmlformats.org/drawingml/2006/main">
            <a:pPr algn="l">
              <a:def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输出时间点异常分数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93FC2-4226-4571-A96E-A0A6ACFE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362200"/>
            <a:ext cx="2114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3AC6C-BBCA-469B-87D1-2F88767F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4955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rPr>
              <a:t>LLMeLog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0F427-1A04-40AA-9DE1-5E84E7DF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384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日志异常检测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AFBEB-C317-4279-9AA1-52C12003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051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日志模板语义编码</a:t>
            </a:r>
          </a:p>
          <a:p xmlns:a="http://schemas.openxmlformats.org/drawingml/2006/main">
            <a:pPr algn="l">
              <a:def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输出窗口异常概率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0DE6E-B8F4-4F32-B59A-94820E39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62200"/>
            <a:ext cx="2114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26054-9FE8-485C-8AD8-06C84145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rPr>
              <a:t>2 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09400-0369-49EC-8298-2DBF010A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观测数据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4DCCD-A917-43B9-AE95-9433F414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KPI 指标与日志事件</a:t>
            </a:r>
          </a:p>
          <a:p xmlns:a="http://schemas.openxmlformats.org/drawingml/2006/main">
            <a:pPr algn="l">
              <a:def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覆盖不同数据模态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F46BA-8F2E-4609-B0CC-668C5AF0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362200"/>
            <a:ext cx="2114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8D017-881D-494A-84CE-B2A2F819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955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rPr>
              <a:t>5 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5D855-7157-4DD2-980E-ECC5C560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384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故障 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22B2F-D43A-4D5D-B126-DBF6D3AB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1051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使用 final_rerun 日志</a:t>
            </a:r>
          </a:p>
          <a:p xmlns:a="http://schemas.openxmlformats.org/drawingml/2006/main">
            <a:pPr algn="l">
              <a:def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完成训练与检测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DDD5D-CCB9-4C43-A6E8-E815FF19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93726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9D1EA-8048-4F0C-8F4E-C1DDFD45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434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D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F04EC0-5D4D-492C-9E2D-29CDB017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386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主仓系统运行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A49632-AD41-4340-B8AC-64B23B3E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14875"/>
            <a:ext cx="1238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故障注入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1F180-ED8D-42D6-AABF-14C6DA57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4577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3A62A1-C287-4AC6-9169-4F677194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434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A7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EBE191-3834-4C46-8188-F0FDBB1F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386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采集观测数据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501278-9BF0-4417-97E1-874FC581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14875"/>
            <a:ext cx="1238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KPI 与日志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A6D614-4B8B-49D5-A7F7-8680ED7D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4577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D027D5-B6E4-4362-BD3A-DDF7BABD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434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10E226-DAEC-466C-80AA-F8776270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386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数据预处理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0B2561-6BAF-43AC-AB80-6ACA8FE4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14875"/>
            <a:ext cx="1238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清洗 / 窗口 / 标签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899E25-6248-42DF-A7D6-3DEC9991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4577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F9B455-4565-4FF8-A015-7685E419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434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7B62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304AE3-4565-428A-A72A-ADC5CF6E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386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算法复现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75AB79-A0D9-4CB5-8672-56D7E254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14875"/>
            <a:ext cx="1238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DADA / LLMeLog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2DC0D6-C7AC-41C6-ADE5-78869B42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4577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0175B4-8A13-4319-BE2B-6A038A2F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434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948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DA7384-92C3-465D-BB23-E8C7FC29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386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异常可视化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EF7CDE-9276-42BB-B0C1-06AABA41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14875"/>
            <a:ext cx="1238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分数 / 结果 / 截图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F63A0B-9D82-46E0-AACC-87478CC1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67325"/>
            <a:ext cx="9601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C9D9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FE2E79-FD26-49C4-9A90-57348446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19725"/>
            <a:ext cx="906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最终形成从系统运行与队员数据到异常识别展示的闭环：KPI 用 DADA，日志用 LLMeLog。</a:t>
            </a:r>
          </a:p>
        </p:txBody>
      </p:sp>
    </p:spTree>
    <p:extLst>
      <p:ext uri="{BB962C8B-B14F-4D97-AF65-F5344CB8AC3E}">
        <p14:creationId xmlns:p14="http://schemas.microsoft.com/office/powerpoint/2010/main" val="2333543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er-frame">
            <a:extLst xmlns:a="http://schemas.openxmlformats.org/drawingml/2006/main">
              <a:ext uri="{FF2B5EF4-FFF2-40B4-BE49-F238E27FC236}">
                <a16:creationId xmlns:a16="http://schemas.microsoft.com/office/drawing/2014/main" id="{324755D6-8D34-48E7-B489-EED0B779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5275"/>
            <a:ext cx="1169670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7A45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26E64B-C966-4E12-B983-96A7523C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DADA：基于多维 KPI 的异常检测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B0DCF-07D8-419C-BC51-197F2F34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71600"/>
            <a:ext cx="3371850" cy="42100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90FD3-83F7-43D8-9F79-AACF5FE8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rPr>
              <a:t>算法思路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725E3-A2E2-4BC0-8B4A-91015A0F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43100"/>
            <a:ext cx="2838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DADA 面向多变量时间序列，将服务请求量、Pod 内存、重启次数等 KPI 按时间顺序组成多维矩阵。模型对时间窗口内的变化模式建模，并输出每个时间点的异常分数；分数越高，表示系统状态越偏离正常模式。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CA8AB-9795-4D23-A0E0-D3D2586D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rPr>
              <a:t>数据选择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4B8FE-823A-4BAF-B7F8-A8EC517A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2838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本次展示使用主仓本地生成的 Online Boutique KPI 数据，包含正常段、故障注入段和恢复段。final_rerun 的 Prometheus KPI 主要覆盖故障窗口，正常段不足，不适合展示完整变化过程。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1CF0F-1D89-4409-96E0-0D42078B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006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数据来源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836CF-7D73-434C-AA15-4E5F2173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00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主仓系统运行 + 故障注入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36145-68CC-4567-84D6-0FEC0678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故障类型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B0AF0-C76F-4365-8792-5E3F8C29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911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discountservice scale_down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85A83-B81F-4CAB-94CC-013D2D25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时间点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A4B25-ACDB-43A6-9BA0-78DB8EB9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81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572 个；其中 345 个有 DADA 分数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F94A0-AE9B-47A1-8435-7AA7E1E7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721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阈值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92F07-3038-4F70-9F6D-0EBBB3D6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721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初始化正常段 95 分位数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1CECA-A46F-4DA4-A2EF-BE4FE5E9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371600"/>
            <a:ext cx="66103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31d654f3448f1"/>
          <a:stretch xmlns:a="http://schemas.openxmlformats.org/drawingml/2006/main"/>
        </p:blipFill>
        <p:spPr>
          <a:xfrm xmlns:a="http://schemas.openxmlformats.org/drawingml/2006/main">
            <a:off x="4838700" y="1600200"/>
            <a:ext cx="6191250" cy="3333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1A435-62AF-48A1-98D1-7F2F15C8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8635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C1AD38-EFEC-41E0-A395-F499B3A4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10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红色区域：真实故障区间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D59A4-88F1-4BDE-8B0E-2ACBE0AD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08635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ECE971-AC7D-489A-A3E8-080124E0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01015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蓝色曲线：异常分数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2A4BB3-CC1E-46BB-9063-E106E19E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08635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895C49-5D95-4A15-9ECA-E9A5E79F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010150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橙色虚线：异常阈值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BB617-6AA1-4198-9A00-0A5C4261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508635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9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04BA4-0F31-4028-AB00-28CF8127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010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下方曲线：关键 KPI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25DD4B-C714-4780-A93A-B6558005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619750"/>
            <a:ext cx="6610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A8DA02-99D8-4BF3-A3D6-317DD5C5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676900"/>
            <a:ext cx="622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故障后 KPI 指标发生明显变化，DADA 异常分数随之升高，体现指标侧异常识别能力。</a:t>
            </a:r>
          </a:p>
        </p:txBody>
      </p:sp>
    </p:spTree>
    <p:extLst>
      <p:ext uri="{BB962C8B-B14F-4D97-AF65-F5344CB8AC3E}">
        <p14:creationId xmlns:p14="http://schemas.microsoft.com/office/powerpoint/2010/main" val="9242875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er-frame">
            <a:extLst xmlns:a="http://schemas.openxmlformats.org/drawingml/2006/main">
              <a:ext uri="{FF2B5EF4-FFF2-40B4-BE49-F238E27FC236}">
                <a16:creationId xmlns:a16="http://schemas.microsoft.com/office/drawing/2014/main" id="{6AF7FE3E-0548-4EC6-B87F-FD72CA42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5275"/>
            <a:ext cx="1169670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7A45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1BF332-B71F-4D4F-A583-EEF9D4D8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LLMeLog：基于日志事件序列的异常检测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2C7A1-D24A-49A1-98F0-3646E535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90650"/>
            <a:ext cx="3333750" cy="4095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ACE0F-84F9-4E83-BE1E-C239F5BA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81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rPr>
              <a:t>算法流程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2A129-F72A-405F-A005-E6F3D822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1930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D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C80AE-9357-4DB0-A25A-ACC2A4A9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145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原始日志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C8313-3187-4F90-A350-7C5F0A4E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9077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按故障 run 汇总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63ABF-D093-42AA-8A06-3CE97FA8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146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A2B94-3C39-452C-91C0-EF819ADB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A7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DE5CD-52AF-4F55-859B-18F7198A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194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日志模板化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E4E50-981D-4F9F-83BA-98AFA98A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9562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去掉 ID / 时间戳 / 数字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440D3-35A4-4C88-9F0B-F10F9102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194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49025-6E21-43AE-BDC2-D5444157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2900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3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800AC-3E2B-4771-94B7-9434319A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242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BERT 编码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E637E-4D54-465E-9375-1257D21C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0047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模板语义向量化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C41DE-FD2E-4449-B0DD-67115C40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243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35807-891B-4D16-927C-61A1BEC1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B62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4E007-6756-499B-9E7F-82BAE3D0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291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秒窗口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2E44D-3E83-469F-89EC-AB4CC4C5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0532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事件序列聚合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1B7CB0-B33A-43DD-BD28-4D95E070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291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0E702-47C7-46B3-AC21-B2827E66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3870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948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EF1B40-1724-45B2-8D1E-E2EF3829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339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异常概率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E4E27B-A8B3-4ABE-95BE-39B1366F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017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窗口级检测输出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26FC5-CB88-452B-A3EE-72447EED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390650"/>
            <a:ext cx="65151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9C11A6-975B-44C4-B522-F885F5A8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62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rPr>
              <a:t>日志数据统计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2D1F35-4E76-4C86-AC03-3D887246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43100"/>
            <a:ext cx="592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99B9E8-E57C-45F3-8BCC-A3E8231A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9072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B0A08A-55F7-48F5-A9A4-B88C00C6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9072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2F5FE-C7AC-48B7-9ECB-ECEF4DF8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47900"/>
            <a:ext cx="592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4C06F0-7496-4C6F-961E-C45382BB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故障 run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BE581F-7BF4-4D92-BD92-3F5AB6F8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860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65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rPr>
              <a:t>5 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249BE6-E9A5-4A65-B8BC-430B8873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14600"/>
            <a:ext cx="592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27CFF3-0757-4523-8005-1A72D869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52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原始日志事件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E8CA83-022D-4678-8CC6-C0622CE4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527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65" b="1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rPr>
              <a:t>84,709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D1E85D-2655-4C0E-AD69-4505451E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81300"/>
            <a:ext cx="592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E90AE5-C502-4B91-B807-9918AF1D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194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日志模板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5DB358-69D7-4C04-A448-0B46EF59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194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65" b="1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rPr>
              <a:t>360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DD9929-279D-4332-921A-5F1209EA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592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CBA724-A1BD-4AE3-828B-A1BC2047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861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5 秒日志窗口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D0599C-B155-4520-8576-E97432AB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861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65" b="1">
                <a:solidFill>
                  <a:srgbClr val="7B6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7B62BF"/>
                </a:solidFill>
                <a:latin typeface="Microsoft YaHei"/>
                <a:ea typeface="Microsoft YaHei"/>
                <a:cs typeface="Microsoft YaHei"/>
              </a:rPr>
              <a:t>4,166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17B2B2-88A0-42DE-A7C9-A9B25DB1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14700"/>
            <a:ext cx="592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119D9C-1CD6-4AD6-AFC6-6B4F43BA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52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训练窗口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C94C1B-4350-411F-90ED-1CD42CAA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528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65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rPr>
              <a:t>2,499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246E7F-467D-4768-8A58-992437EC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81400"/>
            <a:ext cx="592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F3733C-2B14-4492-A64D-6BC79000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验证窗口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4C98AB-E07C-48D6-88F4-66FADBE7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195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65" b="1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rPr>
              <a:t>832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57C3E8-9C94-482B-8F59-72BFCACA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48100"/>
            <a:ext cx="592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D2CD9C-194A-4BD5-BE75-F0FF9B4A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862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测试窗口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4D9F5C-BFF8-41F5-8933-3D00B1ED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862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65" b="1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rPr>
              <a:t>835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041B1B-CB50-4241-8349-F528AB75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65151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C9D9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2BB77E-0007-4032-BABE-5AE1F407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6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rPr>
              <a:t>使用的 5 组 final_rerun 日志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11309B-03D1-4F26-B1FA-91028004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910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verify_frontend_cpu_001</a:t>
            </a:r>
          </a:p>
          <a:p xmlns:a="http://schemas.openxmlformats.org/drawingml/2006/main">
            <a:pPr algn="l">
              <a:def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verify_checkout_pod_kill_001</a:t>
            </a:r>
          </a:p>
          <a:p xmlns:a="http://schemas.openxmlformats.org/drawingml/2006/main">
            <a:pPr algn="l">
              <a:def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verify_productcatalog_pod_failure_001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E0AF98-4F7F-4377-911B-652145F6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2724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verify_telemetry_loss_001</a:t>
            </a:r>
          </a:p>
          <a:p xmlns:a="http://schemas.openxmlformats.org/drawingml/2006/main">
            <a:pPr algn="l">
              <a:def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verify_checkout_discount_delay_001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399830-E3BC-4165-BE48-6DCD0471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窗口标签由 timeline 判断是否落在故障区间内生成。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DA1C8A-6662-4045-AE91-4D088D59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53100"/>
            <a:ext cx="9601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1AB54E-5CAF-4A4F-8417-8B500298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10250"/>
            <a:ext cx="906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LLMeLog 侧重从日志事件模式识别异常窗口，与 KPI 指标异常检测形成互补。</a:t>
            </a:r>
          </a:p>
        </p:txBody>
      </p:sp>
    </p:spTree>
    <p:extLst>
      <p:ext uri="{BB962C8B-B14F-4D97-AF65-F5344CB8AC3E}">
        <p14:creationId xmlns:p14="http://schemas.microsoft.com/office/powerpoint/2010/main" val="8390715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er-frame">
            <a:extLst xmlns:a="http://schemas.openxmlformats.org/drawingml/2006/main">
              <a:ext uri="{FF2B5EF4-FFF2-40B4-BE49-F238E27FC236}">
                <a16:creationId xmlns:a16="http://schemas.microsoft.com/office/drawing/2014/main" id="{EF01E055-605F-406A-8ECD-A282E7D5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5275"/>
            <a:ext cx="1169670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7A45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B82A87-7048-4DC5-8CB9-B13B6351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异常检测结果展示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D0B41-0B80-4B22-B530-9A1BE8A3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5162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6F3B2-1A5F-4799-B87A-D409735A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240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rPr>
              <a:t>DADA KPI 检测图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9327004674ff9"/>
          <a:stretch xmlns:a="http://schemas.openxmlformats.org/drawingml/2006/main"/>
        </p:blipFill>
        <p:spPr>
          <a:xfrm xmlns:a="http://schemas.openxmlformats.org/drawingml/2006/main">
            <a:off x="1257300" y="1847850"/>
            <a:ext cx="4210050" cy="2266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1EDD4-8EC3-4EC5-8743-E6EDEF5D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2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红色背景为真实故障区间，蓝色曲线为异常分数。故障后 KPI 指标出现明显变化，异常分数在后续时间段升高。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46D88-9A58-4A16-9E15-D5DC2CAE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52550"/>
            <a:ext cx="5162550" cy="436245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E2227-E7CF-41FE-BD00-0039BFC0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rPr>
              <a:t>LLMeLog 日志检测图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ee235e0c54c3a"/>
          <a:stretch xmlns:a="http://schemas.openxmlformats.org/drawingml/2006/main"/>
        </p:blipFill>
        <p:spPr>
          <a:xfrm xmlns:a="http://schemas.openxmlformats.org/drawingml/2006/main">
            <a:off x="7242175" y="1847850"/>
            <a:ext cx="3136900" cy="3619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3F9AE-5922-4144-B4F2-DA3D6CA0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340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每一行对应一个故障 run，红色背景表示真实故障时间段，绿色曲线表示日志窗口异常概率，红点表示故障窗口内日志序列。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6B739-90D0-4585-A8B0-BBFBE0B5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9601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C9D9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115B5-DA2B-4E4D-AA54-BA46DF94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91225"/>
            <a:ext cx="906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总结：DADA 从系统指标变化中发现异常；LLMeLog 从日志事件模式中识别异常窗口，两类数据模态互补，不做横向指标对比。</a:t>
            </a:r>
          </a:p>
        </p:txBody>
      </p:sp>
    </p:spTree>
    <p:extLst>
      <p:ext uri="{BB962C8B-B14F-4D97-AF65-F5344CB8AC3E}">
        <p14:creationId xmlns:p14="http://schemas.microsoft.com/office/powerpoint/2010/main" val="1412775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2026-06-15T04:18:08.8600000Z</dcterms:created>
  <dcterms:modified xsi:type="dcterms:W3CDTF">2026-06-15T04:18:08.8600000Z</dcterms:modified>
</coreProperties>
</file>